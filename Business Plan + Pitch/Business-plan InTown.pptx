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2801600" cy="9601200" type="A3"/>
  <p:notesSz cx="12801600" cy="96012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010" autoAdjust="0"/>
  </p:normalViewPr>
  <p:slideViewPr>
    <p:cSldViewPr>
      <p:cViewPr varScale="1">
        <p:scale>
          <a:sx n="73" d="100"/>
          <a:sy n="73" d="100"/>
        </p:scale>
        <p:origin x="1854" y="5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546725"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7251700" y="0"/>
            <a:ext cx="5546725" cy="481013"/>
          </a:xfrm>
          <a:prstGeom prst="rect">
            <a:avLst/>
          </a:prstGeom>
        </p:spPr>
        <p:txBody>
          <a:bodyPr vert="horz" lIns="91440" tIns="45720" rIns="91440" bIns="45720" rtlCol="0"/>
          <a:lstStyle>
            <a:lvl1pPr algn="r">
              <a:defRPr sz="1200"/>
            </a:lvl1pPr>
          </a:lstStyle>
          <a:p>
            <a:fld id="{1941FD70-4261-4005-A8D8-4787F1854AD7}" type="datetimeFigureOut">
              <a:rPr lang="en-US" smtClean="0"/>
              <a:t>4/30/2026</a:t>
            </a:fld>
            <a:endParaRPr lang="en-US"/>
          </a:p>
        </p:txBody>
      </p:sp>
      <p:sp>
        <p:nvSpPr>
          <p:cNvPr id="4" name="Slide Image Placeholder 3"/>
          <p:cNvSpPr>
            <a:spLocks noGrp="1" noRot="1" noChangeAspect="1"/>
          </p:cNvSpPr>
          <p:nvPr>
            <p:ph type="sldImg" idx="2"/>
          </p:nvPr>
        </p:nvSpPr>
        <p:spPr>
          <a:xfrm>
            <a:off x="4240213" y="1200150"/>
            <a:ext cx="4321175"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79525" y="4621213"/>
            <a:ext cx="10242550"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5546725"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7251700" y="9120188"/>
            <a:ext cx="5546725" cy="481012"/>
          </a:xfrm>
          <a:prstGeom prst="rect">
            <a:avLst/>
          </a:prstGeom>
        </p:spPr>
        <p:txBody>
          <a:bodyPr vert="horz" lIns="91440" tIns="45720" rIns="91440" bIns="45720" rtlCol="0" anchor="b"/>
          <a:lstStyle>
            <a:lvl1pPr algn="r">
              <a:defRPr sz="1200"/>
            </a:lvl1pPr>
          </a:lstStyle>
          <a:p>
            <a:fld id="{AF9BEF6C-5A0A-40A1-8013-F76CE9499EAB}" type="slidenum">
              <a:rPr lang="en-US" smtClean="0"/>
              <a:t>‹#›</a:t>
            </a:fld>
            <a:endParaRPr lang="en-US"/>
          </a:p>
        </p:txBody>
      </p:sp>
    </p:spTree>
    <p:extLst>
      <p:ext uri="{BB962C8B-B14F-4D97-AF65-F5344CB8AC3E}">
        <p14:creationId xmlns:p14="http://schemas.microsoft.com/office/powerpoint/2010/main" val="2186536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9BEF6C-5A0A-40A1-8013-F76CE9499EAB}" type="slidenum">
              <a:rPr lang="en-US" smtClean="0"/>
              <a:t>1</a:t>
            </a:fld>
            <a:endParaRPr lang="en-US"/>
          </a:p>
        </p:txBody>
      </p:sp>
    </p:spTree>
    <p:extLst>
      <p:ext uri="{BB962C8B-B14F-4D97-AF65-F5344CB8AC3E}">
        <p14:creationId xmlns:p14="http://schemas.microsoft.com/office/powerpoint/2010/main" val="2289239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60120" y="2976372"/>
            <a:ext cx="10881360" cy="2016251"/>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920240" y="5376672"/>
            <a:ext cx="8961120" cy="24003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Calibri"/>
                <a:cs typeface="Calibri"/>
              </a:defRPr>
            </a:lvl1pPr>
          </a:lstStyle>
          <a:p>
            <a:endParaRPr/>
          </a:p>
        </p:txBody>
      </p:sp>
      <p:sp>
        <p:nvSpPr>
          <p:cNvPr id="3" name="Holder 3"/>
          <p:cNvSpPr>
            <a:spLocks noGrp="1"/>
          </p:cNvSpPr>
          <p:nvPr>
            <p:ph sz="half" idx="2"/>
          </p:nvPr>
        </p:nvSpPr>
        <p:spPr>
          <a:xfrm>
            <a:off x="640080" y="2208276"/>
            <a:ext cx="5568696" cy="633679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592824" y="2208276"/>
            <a:ext cx="5568696" cy="633679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1275" y="284926"/>
            <a:ext cx="5857240" cy="120777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3" name="Holder 3"/>
          <p:cNvSpPr>
            <a:spLocks noGrp="1"/>
          </p:cNvSpPr>
          <p:nvPr>
            <p:ph type="body" idx="1"/>
          </p:nvPr>
        </p:nvSpPr>
        <p:spPr>
          <a:xfrm>
            <a:off x="640080" y="2208276"/>
            <a:ext cx="11521440" cy="633679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352544" y="8929116"/>
            <a:ext cx="4096512" cy="48006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40080" y="8929116"/>
            <a:ext cx="2944368" cy="48006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6" name="Holder 6"/>
          <p:cNvSpPr>
            <a:spLocks noGrp="1"/>
          </p:cNvSpPr>
          <p:nvPr>
            <p:ph type="sldNum" sz="quarter" idx="7"/>
          </p:nvPr>
        </p:nvSpPr>
        <p:spPr>
          <a:xfrm>
            <a:off x="9217152" y="8929116"/>
            <a:ext cx="2944368" cy="48006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dgs.un.org/goals"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373412" y="2414462"/>
            <a:ext cx="11819255" cy="529590"/>
          </a:xfrm>
          <a:custGeom>
            <a:avLst/>
            <a:gdLst/>
            <a:ahLst/>
            <a:cxnLst/>
            <a:rect l="l" t="t" r="r" b="b"/>
            <a:pathLst>
              <a:path w="11819255" h="529589">
                <a:moveTo>
                  <a:pt x="0" y="12"/>
                </a:moveTo>
                <a:lnTo>
                  <a:pt x="5892899" y="12"/>
                </a:lnTo>
                <a:lnTo>
                  <a:pt x="5892899" y="520512"/>
                </a:lnTo>
                <a:lnTo>
                  <a:pt x="0" y="520512"/>
                </a:lnTo>
                <a:lnTo>
                  <a:pt x="0" y="12"/>
                </a:lnTo>
                <a:close/>
              </a:path>
              <a:path w="11819255" h="529589">
                <a:moveTo>
                  <a:pt x="5925762" y="0"/>
                </a:moveTo>
                <a:lnTo>
                  <a:pt x="11818662" y="0"/>
                </a:lnTo>
                <a:lnTo>
                  <a:pt x="11818662" y="529499"/>
                </a:lnTo>
                <a:lnTo>
                  <a:pt x="5925762" y="529499"/>
                </a:lnTo>
                <a:lnTo>
                  <a:pt x="5925762" y="0"/>
                </a:lnTo>
                <a:close/>
              </a:path>
            </a:pathLst>
          </a:custGeom>
          <a:ln w="25399">
            <a:solidFill>
              <a:srgbClr val="7F7F7F"/>
            </a:solidFill>
          </a:ln>
        </p:spPr>
        <p:txBody>
          <a:bodyPr wrap="square" lIns="0" tIns="0" rIns="0" bIns="0" rtlCol="0"/>
          <a:lstStyle/>
          <a:p>
            <a:endParaRPr/>
          </a:p>
        </p:txBody>
      </p:sp>
      <p:sp>
        <p:nvSpPr>
          <p:cNvPr id="4" name="object 4"/>
          <p:cNvSpPr/>
          <p:nvPr/>
        </p:nvSpPr>
        <p:spPr>
          <a:xfrm>
            <a:off x="370724" y="3053850"/>
            <a:ext cx="5895975" cy="3094990"/>
          </a:xfrm>
          <a:custGeom>
            <a:avLst/>
            <a:gdLst/>
            <a:ahLst/>
            <a:cxnLst/>
            <a:rect l="l" t="t" r="r" b="b"/>
            <a:pathLst>
              <a:path w="5895975" h="3094990">
                <a:moveTo>
                  <a:pt x="2699" y="0"/>
                </a:moveTo>
                <a:lnTo>
                  <a:pt x="5895599" y="0"/>
                </a:lnTo>
                <a:lnTo>
                  <a:pt x="5895599" y="2550899"/>
                </a:lnTo>
                <a:lnTo>
                  <a:pt x="2699" y="2550899"/>
                </a:lnTo>
                <a:lnTo>
                  <a:pt x="2699" y="0"/>
                </a:lnTo>
                <a:close/>
              </a:path>
              <a:path w="5895975" h="3094990">
                <a:moveTo>
                  <a:pt x="0" y="2574367"/>
                </a:moveTo>
                <a:lnTo>
                  <a:pt x="3896399" y="2574367"/>
                </a:lnTo>
                <a:lnTo>
                  <a:pt x="3896399" y="3094867"/>
                </a:lnTo>
                <a:lnTo>
                  <a:pt x="0" y="3094867"/>
                </a:lnTo>
                <a:lnTo>
                  <a:pt x="0" y="2574367"/>
                </a:lnTo>
                <a:close/>
              </a:path>
            </a:pathLst>
          </a:custGeom>
          <a:ln w="25399">
            <a:solidFill>
              <a:srgbClr val="7F7F7F"/>
            </a:solidFill>
          </a:ln>
        </p:spPr>
        <p:txBody>
          <a:bodyPr wrap="square" lIns="0" tIns="0" rIns="0" bIns="0" rtlCol="0"/>
          <a:lstStyle/>
          <a:p>
            <a:endParaRPr/>
          </a:p>
        </p:txBody>
      </p:sp>
      <p:sp>
        <p:nvSpPr>
          <p:cNvPr id="5" name="object 5"/>
          <p:cNvSpPr txBox="1"/>
          <p:nvPr/>
        </p:nvSpPr>
        <p:spPr>
          <a:xfrm>
            <a:off x="443749" y="5641425"/>
            <a:ext cx="273939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3.</a:t>
            </a:r>
            <a:r>
              <a:rPr sz="2400" spc="-35" dirty="0">
                <a:latin typeface="Calibri"/>
                <a:cs typeface="Calibri"/>
              </a:rPr>
              <a:t> </a:t>
            </a:r>
            <a:r>
              <a:rPr sz="2400" dirty="0">
                <a:latin typeface="Calibri"/>
                <a:cs typeface="Calibri"/>
              </a:rPr>
              <a:t>SMART</a:t>
            </a:r>
            <a:r>
              <a:rPr sz="2400" spc="-35" dirty="0">
                <a:latin typeface="Calibri"/>
                <a:cs typeface="Calibri"/>
              </a:rPr>
              <a:t> </a:t>
            </a:r>
            <a:r>
              <a:rPr sz="2400" spc="-10" dirty="0">
                <a:latin typeface="Calibri"/>
                <a:cs typeface="Calibri"/>
              </a:rPr>
              <a:t>OBJECTIVES</a:t>
            </a:r>
            <a:endParaRPr sz="2400">
              <a:latin typeface="Calibri"/>
              <a:cs typeface="Calibri"/>
            </a:endParaRPr>
          </a:p>
        </p:txBody>
      </p:sp>
      <p:sp>
        <p:nvSpPr>
          <p:cNvPr id="6" name="object 6"/>
          <p:cNvSpPr/>
          <p:nvPr/>
        </p:nvSpPr>
        <p:spPr>
          <a:xfrm>
            <a:off x="4300125" y="5623717"/>
            <a:ext cx="3896995" cy="529590"/>
          </a:xfrm>
          <a:custGeom>
            <a:avLst/>
            <a:gdLst/>
            <a:ahLst/>
            <a:cxnLst/>
            <a:rect l="l" t="t" r="r" b="b"/>
            <a:pathLst>
              <a:path w="3896995" h="529589">
                <a:moveTo>
                  <a:pt x="0" y="0"/>
                </a:moveTo>
                <a:lnTo>
                  <a:pt x="3896399" y="0"/>
                </a:lnTo>
                <a:lnTo>
                  <a:pt x="3896399" y="529499"/>
                </a:lnTo>
                <a:lnTo>
                  <a:pt x="0" y="529499"/>
                </a:lnTo>
                <a:lnTo>
                  <a:pt x="0" y="0"/>
                </a:lnTo>
                <a:close/>
              </a:path>
            </a:pathLst>
          </a:custGeom>
          <a:ln w="25399">
            <a:solidFill>
              <a:srgbClr val="7F7F7F"/>
            </a:solidFill>
          </a:ln>
        </p:spPr>
        <p:txBody>
          <a:bodyPr wrap="square" lIns="0" tIns="0" rIns="0" bIns="0" rtlCol="0"/>
          <a:lstStyle/>
          <a:p>
            <a:endParaRPr/>
          </a:p>
        </p:txBody>
      </p:sp>
      <p:sp>
        <p:nvSpPr>
          <p:cNvPr id="7" name="object 7"/>
          <p:cNvSpPr txBox="1"/>
          <p:nvPr/>
        </p:nvSpPr>
        <p:spPr>
          <a:xfrm>
            <a:off x="4373151" y="5636926"/>
            <a:ext cx="1037050"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4.</a:t>
            </a:r>
            <a:r>
              <a:rPr sz="2400" spc="-10" dirty="0">
                <a:latin typeface="Calibri"/>
                <a:cs typeface="Calibri"/>
              </a:rPr>
              <a:t> PRIC</a:t>
            </a:r>
            <a:r>
              <a:rPr lang="en-US" sz="2400" spc="-10" dirty="0">
                <a:latin typeface="Calibri"/>
                <a:cs typeface="Calibri"/>
              </a:rPr>
              <a:t>E</a:t>
            </a:r>
            <a:endParaRPr sz="2400" dirty="0">
              <a:latin typeface="Calibri"/>
              <a:cs typeface="Calibri"/>
            </a:endParaRPr>
          </a:p>
        </p:txBody>
      </p:sp>
      <p:sp>
        <p:nvSpPr>
          <p:cNvPr id="8" name="object 8"/>
          <p:cNvSpPr txBox="1"/>
          <p:nvPr/>
        </p:nvSpPr>
        <p:spPr>
          <a:xfrm>
            <a:off x="4318830" y="6178502"/>
            <a:ext cx="3896995" cy="3431196"/>
          </a:xfrm>
          <a:prstGeom prst="rect">
            <a:avLst/>
          </a:prstGeom>
          <a:ln w="25399">
            <a:solidFill>
              <a:srgbClr val="7F7F7F"/>
            </a:solidFill>
          </a:ln>
        </p:spPr>
        <p:txBody>
          <a:bodyPr vert="horz" wrap="square" lIns="0" tIns="27940" rIns="0" bIns="0" rtlCol="0">
            <a:spAutoFit/>
          </a:bodyPr>
          <a:lstStyle/>
          <a:p>
            <a:pPr marL="85725" algn="just">
              <a:lnSpc>
                <a:spcPct val="100000"/>
              </a:lnSpc>
              <a:spcBef>
                <a:spcPts val="220"/>
              </a:spcBef>
            </a:pPr>
            <a:r>
              <a:rPr lang="en-US" sz="1330" dirty="0"/>
              <a:t>	The mobile app operates on a B2B subscription model. Businesses pay a monthly subscription to promote events on the platform and gain visibility to users searching for social activities in their city.</a:t>
            </a:r>
          </a:p>
          <a:p>
            <a:pPr marL="85725" algn="just">
              <a:lnSpc>
                <a:spcPct val="100000"/>
              </a:lnSpc>
              <a:spcBef>
                <a:spcPts val="220"/>
              </a:spcBef>
            </a:pPr>
            <a:r>
              <a:rPr lang="en-US" sz="1330" dirty="0"/>
              <a:t>	Pricing is structured in tiers based on the number of event listings and visibility level:</a:t>
            </a:r>
          </a:p>
          <a:p>
            <a:pPr marL="371475" indent="-285750" algn="just">
              <a:lnSpc>
                <a:spcPct val="100000"/>
              </a:lnSpc>
              <a:spcBef>
                <a:spcPts val="220"/>
              </a:spcBef>
              <a:buFont typeface="Arial" panose="020B0604020202020204" pitchFamily="34" charset="0"/>
              <a:buChar char="•"/>
            </a:pPr>
            <a:r>
              <a:rPr lang="en-US" sz="1330" b="1" dirty="0">
                <a:solidFill>
                  <a:schemeClr val="tx1"/>
                </a:solidFill>
              </a:rPr>
              <a:t>Basic Plan </a:t>
            </a:r>
            <a:r>
              <a:rPr lang="en-US" sz="1330" dirty="0">
                <a:solidFill>
                  <a:schemeClr val="tx1"/>
                </a:solidFill>
              </a:rPr>
              <a:t>- 1 to 3 event listings per month</a:t>
            </a:r>
          </a:p>
          <a:p>
            <a:pPr marL="371475" indent="-285750" algn="just">
              <a:lnSpc>
                <a:spcPct val="100000"/>
              </a:lnSpc>
              <a:spcBef>
                <a:spcPts val="220"/>
              </a:spcBef>
              <a:buFont typeface="Arial" panose="020B0604020202020204" pitchFamily="34" charset="0"/>
              <a:buChar char="•"/>
            </a:pPr>
            <a:r>
              <a:rPr lang="en-US" sz="1330" b="1" dirty="0">
                <a:solidFill>
                  <a:schemeClr val="tx1"/>
                </a:solidFill>
              </a:rPr>
              <a:t>Standard Plan </a:t>
            </a:r>
            <a:r>
              <a:rPr lang="en-US" sz="1330" dirty="0">
                <a:solidFill>
                  <a:schemeClr val="tx1"/>
                </a:solidFill>
              </a:rPr>
              <a:t>- 3 to 5 event listings per month</a:t>
            </a:r>
          </a:p>
          <a:p>
            <a:pPr marL="371475" indent="-285750" algn="just">
              <a:lnSpc>
                <a:spcPct val="100000"/>
              </a:lnSpc>
              <a:spcBef>
                <a:spcPts val="220"/>
              </a:spcBef>
              <a:buFont typeface="Arial" panose="020B0604020202020204" pitchFamily="34" charset="0"/>
              <a:buChar char="•"/>
            </a:pPr>
            <a:r>
              <a:rPr lang="en-US" sz="1330" b="1" dirty="0">
                <a:solidFill>
                  <a:schemeClr val="tx1"/>
                </a:solidFill>
              </a:rPr>
              <a:t>Premium Plan </a:t>
            </a:r>
            <a:r>
              <a:rPr lang="en-US" sz="1330" dirty="0">
                <a:solidFill>
                  <a:schemeClr val="tx1"/>
                </a:solidFill>
              </a:rPr>
              <a:t>- 5 to 10 event listings per month with increased visibility</a:t>
            </a:r>
          </a:p>
          <a:p>
            <a:pPr marL="371475" indent="-285750" algn="ctr">
              <a:lnSpc>
                <a:spcPct val="100000"/>
              </a:lnSpc>
              <a:spcBef>
                <a:spcPts val="220"/>
              </a:spcBef>
              <a:buFont typeface="Arial" panose="020B0604020202020204" pitchFamily="34" charset="0"/>
              <a:buChar char="•"/>
            </a:pPr>
            <a:endParaRPr lang="en-US" sz="1330" dirty="0">
              <a:solidFill>
                <a:schemeClr val="tx1"/>
              </a:solidFill>
            </a:endParaRPr>
          </a:p>
          <a:p>
            <a:pPr algn="ctr"/>
            <a:r>
              <a:rPr lang="en-US" sz="1330" dirty="0">
                <a:solidFill>
                  <a:schemeClr val="tx1"/>
                </a:solidFill>
              </a:rPr>
              <a:t>In addition, businesses can opt for </a:t>
            </a:r>
            <a:r>
              <a:rPr lang="en-US" sz="1330" b="1" dirty="0">
                <a:solidFill>
                  <a:schemeClr val="tx1"/>
                </a:solidFill>
              </a:rPr>
              <a:t>one-time event promotion option</a:t>
            </a:r>
            <a:r>
              <a:rPr lang="en-US" sz="1330" dirty="0">
                <a:solidFill>
                  <a:schemeClr val="tx1"/>
                </a:solidFill>
              </a:rPr>
              <a:t>, allowing flexibility without requiring a full subscription.</a:t>
            </a:r>
            <a:endParaRPr lang="en-US" sz="1330" dirty="0">
              <a:solidFill>
                <a:schemeClr val="tx1"/>
              </a:solidFill>
              <a:cs typeface="Calibri"/>
            </a:endParaRPr>
          </a:p>
        </p:txBody>
      </p:sp>
      <p:sp>
        <p:nvSpPr>
          <p:cNvPr id="9" name="object 9"/>
          <p:cNvSpPr/>
          <p:nvPr/>
        </p:nvSpPr>
        <p:spPr>
          <a:xfrm>
            <a:off x="8229524" y="5628217"/>
            <a:ext cx="3896995" cy="520700"/>
          </a:xfrm>
          <a:custGeom>
            <a:avLst/>
            <a:gdLst/>
            <a:ahLst/>
            <a:cxnLst/>
            <a:rect l="l" t="t" r="r" b="b"/>
            <a:pathLst>
              <a:path w="3896995" h="520700">
                <a:moveTo>
                  <a:pt x="0" y="0"/>
                </a:moveTo>
                <a:lnTo>
                  <a:pt x="3896399" y="0"/>
                </a:lnTo>
                <a:lnTo>
                  <a:pt x="3896399" y="520499"/>
                </a:lnTo>
                <a:lnTo>
                  <a:pt x="0" y="520499"/>
                </a:lnTo>
                <a:lnTo>
                  <a:pt x="0" y="0"/>
                </a:lnTo>
                <a:close/>
              </a:path>
            </a:pathLst>
          </a:custGeom>
          <a:ln w="25399">
            <a:solidFill>
              <a:srgbClr val="7F7F7F"/>
            </a:solidFill>
          </a:ln>
        </p:spPr>
        <p:txBody>
          <a:bodyPr wrap="square" lIns="0" tIns="0" rIns="0" bIns="0" rtlCol="0"/>
          <a:lstStyle/>
          <a:p>
            <a:endParaRPr/>
          </a:p>
        </p:txBody>
      </p:sp>
      <p:sp>
        <p:nvSpPr>
          <p:cNvPr id="10" name="object 10"/>
          <p:cNvSpPr txBox="1"/>
          <p:nvPr/>
        </p:nvSpPr>
        <p:spPr>
          <a:xfrm>
            <a:off x="8302549" y="5641425"/>
            <a:ext cx="1905635" cy="391160"/>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alibri"/>
                <a:cs typeface="Calibri"/>
              </a:rPr>
              <a:t>5.</a:t>
            </a:r>
            <a:r>
              <a:rPr sz="2400" spc="-140" dirty="0">
                <a:latin typeface="Calibri"/>
                <a:cs typeface="Calibri"/>
              </a:rPr>
              <a:t> </a:t>
            </a:r>
            <a:r>
              <a:rPr sz="2400" spc="-10" dirty="0">
                <a:latin typeface="Calibri"/>
                <a:cs typeface="Calibri"/>
              </a:rPr>
              <a:t>PROMOTION</a:t>
            </a:r>
            <a:endParaRPr sz="2400">
              <a:latin typeface="Calibri"/>
              <a:cs typeface="Calibri"/>
            </a:endParaRPr>
          </a:p>
        </p:txBody>
      </p:sp>
      <p:sp>
        <p:nvSpPr>
          <p:cNvPr id="11" name="object 11"/>
          <p:cNvSpPr txBox="1"/>
          <p:nvPr/>
        </p:nvSpPr>
        <p:spPr>
          <a:xfrm>
            <a:off x="8315249" y="6827605"/>
            <a:ext cx="231775" cy="304800"/>
          </a:xfrm>
          <a:prstGeom prst="rect">
            <a:avLst/>
          </a:prstGeom>
        </p:spPr>
        <p:txBody>
          <a:bodyPr vert="horz" wrap="square" lIns="0" tIns="0" rIns="0" bIns="0" rtlCol="0">
            <a:spAutoFit/>
          </a:bodyPr>
          <a:lstStyle/>
          <a:p>
            <a:pPr>
              <a:lnSpc>
                <a:spcPts val="2280"/>
              </a:lnSpc>
            </a:pPr>
            <a:r>
              <a:rPr sz="2400" spc="-25" dirty="0">
                <a:latin typeface="Calibri"/>
                <a:cs typeface="Calibri"/>
              </a:rPr>
              <a:t>5.</a:t>
            </a:r>
            <a:endParaRPr sz="2400">
              <a:latin typeface="Calibri"/>
              <a:cs typeface="Calibri"/>
            </a:endParaRPr>
          </a:p>
        </p:txBody>
      </p:sp>
      <p:sp>
        <p:nvSpPr>
          <p:cNvPr id="12" name="object 12"/>
          <p:cNvSpPr/>
          <p:nvPr/>
        </p:nvSpPr>
        <p:spPr>
          <a:xfrm>
            <a:off x="8295524" y="6259924"/>
            <a:ext cx="3896995" cy="3113405"/>
          </a:xfrm>
          <a:custGeom>
            <a:avLst/>
            <a:gdLst/>
            <a:ahLst/>
            <a:cxnLst/>
            <a:rect l="l" t="t" r="r" b="b"/>
            <a:pathLst>
              <a:path w="3896995" h="3113404">
                <a:moveTo>
                  <a:pt x="3896399" y="3112799"/>
                </a:moveTo>
                <a:lnTo>
                  <a:pt x="0" y="3112799"/>
                </a:lnTo>
                <a:lnTo>
                  <a:pt x="0" y="0"/>
                </a:lnTo>
                <a:lnTo>
                  <a:pt x="3896399" y="0"/>
                </a:lnTo>
                <a:lnTo>
                  <a:pt x="3896399" y="3112799"/>
                </a:lnTo>
                <a:close/>
              </a:path>
            </a:pathLst>
          </a:custGeom>
          <a:solidFill>
            <a:srgbClr val="FFFFFF"/>
          </a:solidFill>
        </p:spPr>
        <p:txBody>
          <a:bodyPr wrap="square" lIns="0" tIns="0" rIns="0" bIns="0" rtlCol="0"/>
          <a:lstStyle/>
          <a:p>
            <a:endParaRPr/>
          </a:p>
        </p:txBody>
      </p:sp>
      <p:sp>
        <p:nvSpPr>
          <p:cNvPr id="13" name="object 13"/>
          <p:cNvSpPr txBox="1"/>
          <p:nvPr/>
        </p:nvSpPr>
        <p:spPr>
          <a:xfrm>
            <a:off x="8266936" y="6246048"/>
            <a:ext cx="3896995" cy="3264996"/>
          </a:xfrm>
          <a:prstGeom prst="rect">
            <a:avLst/>
          </a:prstGeom>
          <a:ln w="25399">
            <a:solidFill>
              <a:srgbClr val="7F7F7F"/>
            </a:solidFill>
          </a:ln>
        </p:spPr>
        <p:txBody>
          <a:bodyPr vert="horz" wrap="square" lIns="0" tIns="27940" rIns="0" bIns="0" rtlCol="0">
            <a:spAutoFit/>
          </a:bodyPr>
          <a:lstStyle/>
          <a:p>
            <a:pPr marL="85725" algn="just">
              <a:lnSpc>
                <a:spcPct val="100000"/>
              </a:lnSpc>
              <a:spcBef>
                <a:spcPts val="220"/>
              </a:spcBef>
            </a:pP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380" dirty="0">
                <a:solidFill>
                  <a:schemeClr val="tx1"/>
                </a:solidFill>
                <a:latin typeface="Calibri" panose="020F0502020204030204" pitchFamily="34" charset="0"/>
                <a:ea typeface="Calibri" panose="020F0502020204030204" pitchFamily="34" charset="0"/>
                <a:cs typeface="Calibri" panose="020F0502020204030204" pitchFamily="34" charset="0"/>
              </a:rPr>
              <a:t>The app’s promotion strategy focuses on connecting newly relocated users with venues offering social and community-based experiences.</a:t>
            </a:r>
          </a:p>
          <a:p>
            <a:pPr marL="85725" algn="just">
              <a:lnSpc>
                <a:spcPct val="100000"/>
              </a:lnSpc>
              <a:spcBef>
                <a:spcPts val="220"/>
              </a:spcBef>
            </a:pPr>
            <a:r>
              <a:rPr lang="en-US" sz="1380" dirty="0">
                <a:latin typeface="Calibri" panose="020F0502020204030204" pitchFamily="34" charset="0"/>
                <a:ea typeface="Calibri" panose="020F0502020204030204" pitchFamily="34" charset="0"/>
                <a:cs typeface="Calibri" panose="020F0502020204030204" pitchFamily="34" charset="0"/>
              </a:rPr>
              <a:t>	Targeted platforms include Instagram and TikTok, </a:t>
            </a:r>
            <a:r>
              <a:rPr lang="en-US" sz="1380" dirty="0">
                <a:solidFill>
                  <a:schemeClr val="tx1"/>
                </a:solidFill>
                <a:latin typeface="Calibri" panose="020F0502020204030204" pitchFamily="34" charset="0"/>
                <a:ea typeface="Calibri" panose="020F0502020204030204" pitchFamily="34" charset="0"/>
                <a:cs typeface="Calibri" panose="020F0502020204030204" pitchFamily="34" charset="0"/>
              </a:rPr>
              <a:t>targeting young and active users</a:t>
            </a:r>
            <a:r>
              <a:rPr lang="en-US" sz="1380" dirty="0">
                <a:latin typeface="Calibri" panose="020F0502020204030204" pitchFamily="34" charset="0"/>
                <a:ea typeface="Calibri" panose="020F0502020204030204" pitchFamily="34" charset="0"/>
                <a:cs typeface="Calibri" panose="020F0502020204030204" pitchFamily="34" charset="0"/>
              </a:rPr>
              <a:t>. Content will highlight on real events, authentic social experiences, and “meet people in your city” messaging to highlight the inclusion aspect and community building.</a:t>
            </a:r>
          </a:p>
          <a:p>
            <a:pPr marL="85725" algn="just">
              <a:lnSpc>
                <a:spcPct val="100000"/>
              </a:lnSpc>
              <a:spcBef>
                <a:spcPts val="220"/>
              </a:spcBef>
            </a:pPr>
            <a:r>
              <a:rPr lang="en-US" sz="1380" dirty="0">
                <a:latin typeface="Calibri" panose="020F0502020204030204" pitchFamily="34" charset="0"/>
                <a:ea typeface="Calibri" panose="020F0502020204030204" pitchFamily="34" charset="0"/>
                <a:cs typeface="Calibri" panose="020F0502020204030204" pitchFamily="34" charset="0"/>
              </a:rPr>
              <a:t>	Events themselves act as marketing tools as each event promotes the app through in-event engagement such as digital attendance confirmation, event-specific links, and social sharing by participants, turning every experience into a driver of organic user growth through real world interaction.</a:t>
            </a:r>
          </a:p>
        </p:txBody>
      </p:sp>
      <p:sp>
        <p:nvSpPr>
          <p:cNvPr id="14" name="object 14"/>
          <p:cNvSpPr txBox="1"/>
          <p:nvPr/>
        </p:nvSpPr>
        <p:spPr>
          <a:xfrm>
            <a:off x="6326746" y="221333"/>
            <a:ext cx="5857240" cy="1256754"/>
          </a:xfrm>
          <a:prstGeom prst="rect">
            <a:avLst/>
          </a:prstGeom>
          <a:ln w="25399">
            <a:solidFill>
              <a:srgbClr val="7F7F7F"/>
            </a:solidFill>
          </a:ln>
        </p:spPr>
        <p:txBody>
          <a:bodyPr vert="horz" wrap="square" lIns="0" tIns="25400" rIns="0" bIns="0" rtlCol="0">
            <a:spAutoFit/>
          </a:bodyPr>
          <a:lstStyle/>
          <a:p>
            <a:pPr marL="85090" algn="just">
              <a:lnSpc>
                <a:spcPct val="100000"/>
              </a:lnSpc>
              <a:spcBef>
                <a:spcPts val="200"/>
              </a:spcBef>
            </a:pPr>
            <a:r>
              <a:rPr sz="2000" dirty="0">
                <a:latin typeface="Calibri" panose="020F0502020204030204" pitchFamily="34" charset="0"/>
                <a:ea typeface="Calibri" panose="020F0502020204030204" pitchFamily="34" charset="0"/>
                <a:cs typeface="Calibri" panose="020F0502020204030204" pitchFamily="34" charset="0"/>
              </a:rPr>
              <a:t>IDEA</a:t>
            </a:r>
            <a:r>
              <a:rPr sz="2000" spc="-2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IN</a:t>
            </a:r>
            <a:r>
              <a:rPr sz="2000" spc="-25" dirty="0">
                <a:latin typeface="Calibri" panose="020F0502020204030204" pitchFamily="34" charset="0"/>
                <a:ea typeface="Calibri" panose="020F0502020204030204" pitchFamily="34" charset="0"/>
                <a:cs typeface="Calibri" panose="020F0502020204030204" pitchFamily="34" charset="0"/>
              </a:rPr>
              <a:t> </a:t>
            </a:r>
            <a:r>
              <a:rPr sz="2000" spc="-10" dirty="0">
                <a:latin typeface="Calibri" panose="020F0502020204030204" pitchFamily="34" charset="0"/>
                <a:ea typeface="Calibri" panose="020F0502020204030204" pitchFamily="34" charset="0"/>
                <a:cs typeface="Calibri" panose="020F0502020204030204" pitchFamily="34" charset="0"/>
              </a:rPr>
              <a:t>SHORT:</a:t>
            </a:r>
            <a:r>
              <a:rPr lang="en-US" sz="2000" spc="-10" dirty="0">
                <a:latin typeface="Calibri" panose="020F0502020204030204" pitchFamily="34" charset="0"/>
                <a:ea typeface="Calibri" panose="020F0502020204030204" pitchFamily="34" charset="0"/>
                <a:cs typeface="Calibri" panose="020F0502020204030204" pitchFamily="34" charset="0"/>
              </a:rPr>
              <a:t> </a:t>
            </a:r>
            <a:r>
              <a:rPr lang="en-US" sz="2000" dirty="0" err="1">
                <a:solidFill>
                  <a:schemeClr val="tx1"/>
                </a:solidFill>
              </a:rPr>
              <a:t>InTown</a:t>
            </a:r>
            <a:r>
              <a:rPr lang="en-US" sz="2000" dirty="0">
                <a:solidFill>
                  <a:schemeClr val="tx1"/>
                </a:solidFill>
              </a:rPr>
              <a:t> is a mobile app designed to help people who have recently moved to a new town or city integrate socially and build meaningful connections within their new community.</a:t>
            </a:r>
            <a:endParaRPr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object 15"/>
          <p:cNvSpPr/>
          <p:nvPr/>
        </p:nvSpPr>
        <p:spPr>
          <a:xfrm>
            <a:off x="370724" y="1611287"/>
            <a:ext cx="11821795" cy="684530"/>
          </a:xfrm>
          <a:custGeom>
            <a:avLst/>
            <a:gdLst/>
            <a:ahLst/>
            <a:cxnLst/>
            <a:rect l="l" t="t" r="r" b="b"/>
            <a:pathLst>
              <a:path w="11821795" h="684530">
                <a:moveTo>
                  <a:pt x="0" y="0"/>
                </a:moveTo>
                <a:lnTo>
                  <a:pt x="11821199" y="0"/>
                </a:lnTo>
                <a:lnTo>
                  <a:pt x="11821199" y="684299"/>
                </a:lnTo>
                <a:lnTo>
                  <a:pt x="0" y="684299"/>
                </a:lnTo>
                <a:lnTo>
                  <a:pt x="0" y="0"/>
                </a:lnTo>
                <a:close/>
              </a:path>
            </a:pathLst>
          </a:custGeom>
          <a:ln w="25399">
            <a:solidFill>
              <a:srgbClr val="7F7F7F"/>
            </a:solidFill>
          </a:ln>
        </p:spPr>
        <p:txBody>
          <a:bodyPr wrap="square" lIns="0" tIns="0" rIns="0" bIns="0" rtlCol="0"/>
          <a:lstStyle/>
          <a:p>
            <a:endParaRPr/>
          </a:p>
        </p:txBody>
      </p:sp>
      <p:sp>
        <p:nvSpPr>
          <p:cNvPr id="16" name="object 16"/>
          <p:cNvSpPr txBox="1"/>
          <p:nvPr/>
        </p:nvSpPr>
        <p:spPr>
          <a:xfrm>
            <a:off x="452858" y="1592132"/>
            <a:ext cx="11090111" cy="1279838"/>
          </a:xfrm>
          <a:prstGeom prst="rect">
            <a:avLst/>
          </a:prstGeom>
        </p:spPr>
        <p:txBody>
          <a:bodyPr vert="horz" wrap="square" lIns="0" tIns="12700" rIns="0" bIns="0" rtlCol="0">
            <a:spAutoFit/>
          </a:bodyPr>
          <a:lstStyle/>
          <a:p>
            <a:pPr marL="1491615">
              <a:lnSpc>
                <a:spcPct val="100000"/>
              </a:lnSpc>
              <a:spcBef>
                <a:spcPts val="100"/>
              </a:spcBef>
            </a:pPr>
            <a:r>
              <a:rPr sz="4000" b="1" dirty="0">
                <a:latin typeface="Cambria"/>
                <a:cs typeface="Cambria"/>
              </a:rPr>
              <a:t>Hardcore</a:t>
            </a:r>
            <a:r>
              <a:rPr sz="4000" b="1" spc="-60" dirty="0">
                <a:latin typeface="Cambria"/>
                <a:cs typeface="Cambria"/>
              </a:rPr>
              <a:t> </a:t>
            </a:r>
            <a:r>
              <a:rPr lang="en-US" sz="4000" b="1" spc="-60" dirty="0">
                <a:solidFill>
                  <a:srgbClr val="F13662"/>
                </a:solidFill>
                <a:latin typeface="Arial MT"/>
                <a:cs typeface="Cambria"/>
              </a:rPr>
              <a:t>Entrepreneur</a:t>
            </a:r>
            <a:r>
              <a:rPr sz="4000" spc="-130" dirty="0">
                <a:solidFill>
                  <a:srgbClr val="F13662"/>
                </a:solidFill>
                <a:latin typeface="Arial MT"/>
                <a:cs typeface="Arial MT"/>
              </a:rPr>
              <a:t> </a:t>
            </a:r>
            <a:r>
              <a:rPr sz="4000" b="1" dirty="0">
                <a:latin typeface="Cambria"/>
                <a:cs typeface="Cambria"/>
              </a:rPr>
              <a:t>hackathon</a:t>
            </a:r>
            <a:r>
              <a:rPr sz="4000" b="1" spc="-60" dirty="0">
                <a:latin typeface="Cambria"/>
                <a:cs typeface="Cambria"/>
              </a:rPr>
              <a:t> </a:t>
            </a:r>
            <a:r>
              <a:rPr lang="en-US" sz="4000" b="1" spc="-25" dirty="0">
                <a:solidFill>
                  <a:srgbClr val="F13662"/>
                </a:solidFill>
                <a:latin typeface="Arial MT"/>
                <a:cs typeface="Cambria"/>
              </a:rPr>
              <a:t>6.0</a:t>
            </a:r>
            <a:endParaRPr sz="4000" dirty="0">
              <a:latin typeface="Arial MT"/>
              <a:cs typeface="Arial MT"/>
            </a:endParaRPr>
          </a:p>
          <a:p>
            <a:pPr marL="12700">
              <a:lnSpc>
                <a:spcPct val="100000"/>
              </a:lnSpc>
              <a:spcBef>
                <a:spcPts val="2190"/>
              </a:spcBef>
              <a:tabLst>
                <a:tab pos="5937885" algn="l"/>
              </a:tabLst>
            </a:pPr>
            <a:r>
              <a:rPr sz="2400" dirty="0">
                <a:latin typeface="Calibri"/>
                <a:cs typeface="Calibri"/>
              </a:rPr>
              <a:t>1.PRODUCT</a:t>
            </a:r>
            <a:r>
              <a:rPr sz="2400" spc="-45" dirty="0">
                <a:latin typeface="Calibri"/>
                <a:cs typeface="Calibri"/>
              </a:rPr>
              <a:t> </a:t>
            </a:r>
            <a:r>
              <a:rPr sz="2400" dirty="0">
                <a:latin typeface="Calibri"/>
                <a:cs typeface="Calibri"/>
              </a:rPr>
              <a:t>-</a:t>
            </a:r>
            <a:r>
              <a:rPr sz="2400" spc="-45" dirty="0">
                <a:latin typeface="Calibri"/>
                <a:cs typeface="Calibri"/>
              </a:rPr>
              <a:t> </a:t>
            </a:r>
            <a:r>
              <a:rPr sz="2400" dirty="0">
                <a:latin typeface="Calibri"/>
                <a:cs typeface="Calibri"/>
              </a:rPr>
              <a:t>PROBLEM</a:t>
            </a:r>
            <a:r>
              <a:rPr sz="2400" spc="-45" dirty="0">
                <a:latin typeface="Calibri"/>
                <a:cs typeface="Calibri"/>
              </a:rPr>
              <a:t> </a:t>
            </a:r>
            <a:r>
              <a:rPr sz="2400" dirty="0">
                <a:latin typeface="Calibri"/>
                <a:cs typeface="Calibri"/>
              </a:rPr>
              <a:t>WE</a:t>
            </a:r>
            <a:r>
              <a:rPr sz="2400" spc="-45" dirty="0">
                <a:latin typeface="Calibri"/>
                <a:cs typeface="Calibri"/>
              </a:rPr>
              <a:t> </a:t>
            </a:r>
            <a:r>
              <a:rPr sz="2400" spc="-10" dirty="0">
                <a:latin typeface="Calibri"/>
                <a:cs typeface="Calibri"/>
              </a:rPr>
              <a:t>SOLVE</a:t>
            </a:r>
            <a:r>
              <a:rPr sz="2400" dirty="0">
                <a:latin typeface="Calibri"/>
                <a:cs typeface="Calibri"/>
              </a:rPr>
              <a:t>	2.</a:t>
            </a:r>
            <a:r>
              <a:rPr sz="2400" spc="-35" dirty="0">
                <a:latin typeface="Calibri"/>
                <a:cs typeface="Calibri"/>
              </a:rPr>
              <a:t> </a:t>
            </a:r>
            <a:r>
              <a:rPr sz="2400" dirty="0">
                <a:latin typeface="Calibri"/>
                <a:cs typeface="Calibri"/>
              </a:rPr>
              <a:t>OUR</a:t>
            </a:r>
            <a:r>
              <a:rPr sz="2400" spc="-35" dirty="0">
                <a:latin typeface="Calibri"/>
                <a:cs typeface="Calibri"/>
              </a:rPr>
              <a:t> TARGET </a:t>
            </a:r>
            <a:r>
              <a:rPr sz="2400" spc="-10" dirty="0">
                <a:latin typeface="Calibri"/>
                <a:cs typeface="Calibri"/>
              </a:rPr>
              <a:t>GROUP</a:t>
            </a:r>
            <a:r>
              <a:rPr lang="en-US" sz="2400" spc="-10" dirty="0">
                <a:latin typeface="Calibri"/>
                <a:cs typeface="Calibri"/>
              </a:rPr>
              <a:t> &amp; </a:t>
            </a:r>
            <a:r>
              <a:rPr lang="en-US" sz="2400" spc="-10" dirty="0">
                <a:latin typeface="Calibri"/>
                <a:cs typeface="Calibri"/>
                <a:hlinkClick r:id="rId3"/>
              </a:rPr>
              <a:t>SDGs </a:t>
            </a:r>
            <a:endParaRPr sz="2400" dirty="0">
              <a:latin typeface="Calibri"/>
              <a:cs typeface="Calibri"/>
            </a:endParaRPr>
          </a:p>
        </p:txBody>
      </p:sp>
      <p:grpSp>
        <p:nvGrpSpPr>
          <p:cNvPr id="17" name="object 17"/>
          <p:cNvGrpSpPr/>
          <p:nvPr/>
        </p:nvGrpSpPr>
        <p:grpSpPr>
          <a:xfrm>
            <a:off x="5728699" y="2476036"/>
            <a:ext cx="6354445" cy="406400"/>
            <a:chOff x="5728699" y="2476036"/>
            <a:chExt cx="6354445" cy="406400"/>
          </a:xfrm>
        </p:grpSpPr>
        <p:sp>
          <p:nvSpPr>
            <p:cNvPr id="18" name="object 18"/>
            <p:cNvSpPr/>
            <p:nvPr/>
          </p:nvSpPr>
          <p:spPr>
            <a:xfrm>
              <a:off x="5741399" y="2488736"/>
              <a:ext cx="412115" cy="381000"/>
            </a:xfrm>
            <a:custGeom>
              <a:avLst/>
              <a:gdLst/>
              <a:ahLst/>
              <a:cxnLst/>
              <a:rect l="l" t="t" r="r" b="b"/>
              <a:pathLst>
                <a:path w="412114" h="381000">
                  <a:moveTo>
                    <a:pt x="411899" y="380999"/>
                  </a:moveTo>
                  <a:lnTo>
                    <a:pt x="0" y="380999"/>
                  </a:lnTo>
                  <a:lnTo>
                    <a:pt x="0" y="0"/>
                  </a:lnTo>
                  <a:lnTo>
                    <a:pt x="411899" y="0"/>
                  </a:lnTo>
                  <a:lnTo>
                    <a:pt x="411899" y="380999"/>
                  </a:lnTo>
                  <a:close/>
                </a:path>
              </a:pathLst>
            </a:custGeom>
            <a:solidFill>
              <a:srgbClr val="FF7B80"/>
            </a:solidFill>
          </p:spPr>
          <p:txBody>
            <a:bodyPr wrap="square" lIns="0" tIns="0" rIns="0" bIns="0" rtlCol="0"/>
            <a:lstStyle/>
            <a:p>
              <a:endParaRPr/>
            </a:p>
          </p:txBody>
        </p:sp>
        <p:sp>
          <p:nvSpPr>
            <p:cNvPr id="19" name="object 19"/>
            <p:cNvSpPr/>
            <p:nvPr/>
          </p:nvSpPr>
          <p:spPr>
            <a:xfrm>
              <a:off x="5741399" y="2488736"/>
              <a:ext cx="412115" cy="381000"/>
            </a:xfrm>
            <a:custGeom>
              <a:avLst/>
              <a:gdLst/>
              <a:ahLst/>
              <a:cxnLst/>
              <a:rect l="l" t="t" r="r" b="b"/>
              <a:pathLst>
                <a:path w="412114" h="381000">
                  <a:moveTo>
                    <a:pt x="0" y="0"/>
                  </a:moveTo>
                  <a:lnTo>
                    <a:pt x="411899" y="0"/>
                  </a:lnTo>
                  <a:lnTo>
                    <a:pt x="411899" y="380999"/>
                  </a:lnTo>
                  <a:lnTo>
                    <a:pt x="0" y="380999"/>
                  </a:lnTo>
                  <a:lnTo>
                    <a:pt x="0" y="0"/>
                  </a:lnTo>
                  <a:close/>
                </a:path>
              </a:pathLst>
            </a:custGeom>
            <a:ln w="25399">
              <a:solidFill>
                <a:srgbClr val="00B050"/>
              </a:solidFill>
            </a:ln>
          </p:spPr>
          <p:txBody>
            <a:bodyPr wrap="square" lIns="0" tIns="0" rIns="0" bIns="0" rtlCol="0"/>
            <a:lstStyle/>
            <a:p>
              <a:endParaRPr/>
            </a:p>
          </p:txBody>
        </p:sp>
        <p:sp>
          <p:nvSpPr>
            <p:cNvPr id="20" name="object 20"/>
            <p:cNvSpPr/>
            <p:nvPr/>
          </p:nvSpPr>
          <p:spPr>
            <a:xfrm>
              <a:off x="11658550" y="2488736"/>
              <a:ext cx="412115" cy="381000"/>
            </a:xfrm>
            <a:custGeom>
              <a:avLst/>
              <a:gdLst/>
              <a:ahLst/>
              <a:cxnLst/>
              <a:rect l="l" t="t" r="r" b="b"/>
              <a:pathLst>
                <a:path w="412115" h="381000">
                  <a:moveTo>
                    <a:pt x="411899" y="380999"/>
                  </a:moveTo>
                  <a:lnTo>
                    <a:pt x="0" y="380999"/>
                  </a:lnTo>
                  <a:lnTo>
                    <a:pt x="0" y="0"/>
                  </a:lnTo>
                  <a:lnTo>
                    <a:pt x="411899" y="0"/>
                  </a:lnTo>
                  <a:lnTo>
                    <a:pt x="411899" y="380999"/>
                  </a:lnTo>
                  <a:close/>
                </a:path>
              </a:pathLst>
            </a:custGeom>
            <a:solidFill>
              <a:srgbClr val="92D050"/>
            </a:solidFill>
          </p:spPr>
          <p:txBody>
            <a:bodyPr wrap="square" lIns="0" tIns="0" rIns="0" bIns="0" rtlCol="0"/>
            <a:lstStyle/>
            <a:p>
              <a:endParaRPr/>
            </a:p>
          </p:txBody>
        </p:sp>
        <p:sp>
          <p:nvSpPr>
            <p:cNvPr id="21" name="object 21"/>
            <p:cNvSpPr/>
            <p:nvPr/>
          </p:nvSpPr>
          <p:spPr>
            <a:xfrm>
              <a:off x="11658550" y="2488736"/>
              <a:ext cx="412115" cy="381000"/>
            </a:xfrm>
            <a:custGeom>
              <a:avLst/>
              <a:gdLst/>
              <a:ahLst/>
              <a:cxnLst/>
              <a:rect l="l" t="t" r="r" b="b"/>
              <a:pathLst>
                <a:path w="412115" h="381000">
                  <a:moveTo>
                    <a:pt x="0" y="0"/>
                  </a:moveTo>
                  <a:lnTo>
                    <a:pt x="411899" y="0"/>
                  </a:lnTo>
                  <a:lnTo>
                    <a:pt x="411899" y="380999"/>
                  </a:lnTo>
                  <a:lnTo>
                    <a:pt x="0" y="380999"/>
                  </a:lnTo>
                  <a:lnTo>
                    <a:pt x="0" y="0"/>
                  </a:lnTo>
                  <a:close/>
                </a:path>
              </a:pathLst>
            </a:custGeom>
            <a:ln w="25399">
              <a:solidFill>
                <a:srgbClr val="00B050"/>
              </a:solidFill>
            </a:ln>
          </p:spPr>
          <p:txBody>
            <a:bodyPr wrap="square" lIns="0" tIns="0" rIns="0" bIns="0" rtlCol="0"/>
            <a:lstStyle/>
            <a:p>
              <a:endParaRPr/>
            </a:p>
          </p:txBody>
        </p:sp>
      </p:grpSp>
      <p:sp>
        <p:nvSpPr>
          <p:cNvPr id="30" name="object 30"/>
          <p:cNvSpPr txBox="1"/>
          <p:nvPr/>
        </p:nvSpPr>
        <p:spPr>
          <a:xfrm>
            <a:off x="370724" y="6206956"/>
            <a:ext cx="3896995" cy="3272691"/>
          </a:xfrm>
          <a:prstGeom prst="rect">
            <a:avLst/>
          </a:prstGeom>
          <a:ln w="25399">
            <a:solidFill>
              <a:srgbClr val="7F7F7F"/>
            </a:solidFill>
          </a:ln>
        </p:spPr>
        <p:txBody>
          <a:bodyPr vert="horz" wrap="square" lIns="0" tIns="27940" rIns="0" bIns="0" rtlCol="0">
            <a:spAutoFit/>
          </a:bodyPr>
          <a:lstStyle/>
          <a:p>
            <a:pPr marL="85725">
              <a:lnSpc>
                <a:spcPct val="100000"/>
              </a:lnSpc>
              <a:spcBef>
                <a:spcPts val="220"/>
              </a:spcBef>
            </a:pPr>
            <a:r>
              <a:rPr lang="en-US" sz="1350" dirty="0">
                <a:solidFill>
                  <a:schemeClr val="tx1"/>
                </a:solidFill>
                <a:latin typeface="Calibri"/>
                <a:cs typeface="Calibri"/>
              </a:rPr>
              <a:t>	</a:t>
            </a:r>
            <a:r>
              <a:rPr lang="en-US" sz="1350" b="1" dirty="0">
                <a:solidFill>
                  <a:schemeClr val="tx1"/>
                </a:solidFill>
                <a:latin typeface="Calibri" panose="020F0502020204030204" pitchFamily="34" charset="0"/>
                <a:ea typeface="Calibri" panose="020F0502020204030204" pitchFamily="34" charset="0"/>
                <a:cs typeface="Calibri" panose="020F0502020204030204" pitchFamily="34" charset="0"/>
              </a:rPr>
              <a:t>Objective</a:t>
            </a:r>
            <a:r>
              <a:rPr lang="en-US" sz="1350" dirty="0">
                <a:solidFill>
                  <a:schemeClr val="tx1"/>
                </a:solidFill>
                <a:latin typeface="Calibri" panose="020F0502020204030204" pitchFamily="34" charset="0"/>
                <a:ea typeface="Calibri" panose="020F0502020204030204" pitchFamily="34" charset="0"/>
                <a:cs typeface="Calibri" panose="020F0502020204030204" pitchFamily="34" charset="0"/>
              </a:rPr>
              <a:t>: Successfully launch and scale a social inclusion platform that connects newcomers with other newcomers and locals through curated events.</a:t>
            </a:r>
          </a:p>
          <a:p>
            <a:pPr marL="85725" algn="just">
              <a:lnSpc>
                <a:spcPct val="100000"/>
              </a:lnSpc>
              <a:spcBef>
                <a:spcPts val="220"/>
              </a:spcBef>
            </a:pPr>
            <a:r>
              <a:rPr lang="en-US" sz="1350" b="1" dirty="0">
                <a:solidFill>
                  <a:schemeClr val="tx1"/>
                </a:solidFill>
                <a:latin typeface="Calibri" panose="020F0502020204030204" pitchFamily="34" charset="0"/>
                <a:ea typeface="Calibri" panose="020F0502020204030204" pitchFamily="34" charset="0"/>
                <a:cs typeface="Calibri" panose="020F0502020204030204" pitchFamily="34" charset="0"/>
              </a:rPr>
              <a:t>S</a:t>
            </a:r>
            <a:r>
              <a:rPr lang="en-US" sz="1350" dirty="0">
                <a:solidFill>
                  <a:schemeClr val="tx1"/>
                </a:solidFill>
                <a:latin typeface="Calibri" panose="020F0502020204030204" pitchFamily="34" charset="0"/>
                <a:ea typeface="Calibri" panose="020F0502020204030204" pitchFamily="34" charset="0"/>
                <a:cs typeface="Calibri" panose="020F0502020204030204" pitchFamily="34" charset="0"/>
              </a:rPr>
              <a:t>pecific: Launch the mobile app in one city and onboard venues, event organizers, and early users.</a:t>
            </a:r>
          </a:p>
          <a:p>
            <a:pPr marL="85725" algn="just">
              <a:lnSpc>
                <a:spcPct val="100000"/>
              </a:lnSpc>
              <a:spcBef>
                <a:spcPts val="220"/>
              </a:spcBef>
            </a:pPr>
            <a:r>
              <a:rPr lang="en-US" sz="1350" b="1" dirty="0">
                <a:solidFill>
                  <a:schemeClr val="tx1"/>
                </a:solidFill>
                <a:latin typeface="Calibri" panose="020F0502020204030204" pitchFamily="34" charset="0"/>
                <a:ea typeface="Calibri" panose="020F0502020204030204" pitchFamily="34" charset="0"/>
                <a:cs typeface="Calibri" panose="020F0502020204030204" pitchFamily="34" charset="0"/>
              </a:rPr>
              <a:t>M</a:t>
            </a:r>
            <a:r>
              <a:rPr lang="en-US" sz="1350" dirty="0">
                <a:solidFill>
                  <a:schemeClr val="tx1"/>
                </a:solidFill>
                <a:latin typeface="Calibri" panose="020F0502020204030204" pitchFamily="34" charset="0"/>
                <a:ea typeface="Calibri" panose="020F0502020204030204" pitchFamily="34" charset="0"/>
                <a:cs typeface="Calibri" panose="020F0502020204030204" pitchFamily="34" charset="0"/>
              </a:rPr>
              <a:t>easurable: Reach over 3,000 active users and establish partnerships with at least 50 local venues.</a:t>
            </a:r>
          </a:p>
          <a:p>
            <a:pPr marL="85725" algn="just">
              <a:lnSpc>
                <a:spcPct val="100000"/>
              </a:lnSpc>
              <a:spcBef>
                <a:spcPts val="220"/>
              </a:spcBef>
            </a:pPr>
            <a:r>
              <a:rPr lang="en-US" sz="1350" b="1" dirty="0">
                <a:solidFill>
                  <a:schemeClr val="tx1"/>
                </a:solidFill>
                <a:latin typeface="Calibri" panose="020F0502020204030204" pitchFamily="34" charset="0"/>
                <a:ea typeface="Calibri" panose="020F0502020204030204" pitchFamily="34" charset="0"/>
                <a:cs typeface="Calibri" panose="020F0502020204030204" pitchFamily="34" charset="0"/>
              </a:rPr>
              <a:t>A</a:t>
            </a:r>
            <a:r>
              <a:rPr lang="en-US" sz="1350" dirty="0">
                <a:solidFill>
                  <a:schemeClr val="tx1"/>
                </a:solidFill>
                <a:latin typeface="Calibri" panose="020F0502020204030204" pitchFamily="34" charset="0"/>
                <a:ea typeface="Calibri" panose="020F0502020204030204" pitchFamily="34" charset="0"/>
                <a:cs typeface="Calibri" panose="020F0502020204030204" pitchFamily="34" charset="0"/>
              </a:rPr>
              <a:t>chievable: Achieve growth through targeted digital marketing and strategic partnerships with established local businesses and communities.</a:t>
            </a:r>
          </a:p>
          <a:p>
            <a:pPr marL="85725" algn="just">
              <a:lnSpc>
                <a:spcPct val="100000"/>
              </a:lnSpc>
              <a:spcBef>
                <a:spcPts val="220"/>
              </a:spcBef>
            </a:pPr>
            <a:r>
              <a:rPr lang="en-US" sz="1350" b="1" dirty="0">
                <a:solidFill>
                  <a:schemeClr val="tx1"/>
                </a:solidFill>
                <a:latin typeface="Calibri" panose="020F0502020204030204" pitchFamily="34" charset="0"/>
                <a:ea typeface="Calibri" panose="020F0502020204030204" pitchFamily="34" charset="0"/>
                <a:cs typeface="Calibri" panose="020F0502020204030204" pitchFamily="34" charset="0"/>
              </a:rPr>
              <a:t>R</a:t>
            </a:r>
            <a:r>
              <a:rPr lang="en-US" sz="1350" dirty="0">
                <a:solidFill>
                  <a:schemeClr val="tx1"/>
                </a:solidFill>
                <a:latin typeface="Calibri" panose="020F0502020204030204" pitchFamily="34" charset="0"/>
                <a:ea typeface="Calibri" panose="020F0502020204030204" pitchFamily="34" charset="0"/>
                <a:cs typeface="Calibri" panose="020F0502020204030204" pitchFamily="34" charset="0"/>
              </a:rPr>
              <a:t>elevant: Support inclusion by reducing isolation and helping newcomers build real-world connections.</a:t>
            </a:r>
          </a:p>
          <a:p>
            <a:pPr marL="85725" algn="just">
              <a:lnSpc>
                <a:spcPct val="100000"/>
              </a:lnSpc>
              <a:spcBef>
                <a:spcPts val="220"/>
              </a:spcBef>
            </a:pPr>
            <a:r>
              <a:rPr lang="en-US" sz="1350" b="1" dirty="0">
                <a:solidFill>
                  <a:schemeClr val="tx1"/>
                </a:solidFill>
                <a:latin typeface="Calibri" panose="020F0502020204030204" pitchFamily="34" charset="0"/>
                <a:ea typeface="Calibri" panose="020F0502020204030204" pitchFamily="34" charset="0"/>
                <a:cs typeface="Calibri" panose="020F0502020204030204" pitchFamily="34" charset="0"/>
              </a:rPr>
              <a:t>T</a:t>
            </a:r>
            <a:r>
              <a:rPr lang="en-US" sz="1350" dirty="0">
                <a:solidFill>
                  <a:schemeClr val="tx1"/>
                </a:solidFill>
                <a:latin typeface="Calibri" panose="020F0502020204030204" pitchFamily="34" charset="0"/>
                <a:ea typeface="Calibri" panose="020F0502020204030204" pitchFamily="34" charset="0"/>
                <a:cs typeface="Calibri" panose="020F0502020204030204" pitchFamily="34" charset="0"/>
              </a:rPr>
              <a:t>ime-bound: Achieve these targets within 6 months after launch.</a:t>
            </a:r>
          </a:p>
        </p:txBody>
      </p:sp>
      <p:sp>
        <p:nvSpPr>
          <p:cNvPr id="32" name="TextBox 31">
            <a:extLst>
              <a:ext uri="{FF2B5EF4-FFF2-40B4-BE49-F238E27FC236}">
                <a16:creationId xmlns:a16="http://schemas.microsoft.com/office/drawing/2014/main" id="{923D8275-531B-9554-64AA-018EBF477B3E}"/>
              </a:ext>
            </a:extLst>
          </p:cNvPr>
          <p:cNvSpPr txBox="1"/>
          <p:nvPr/>
        </p:nvSpPr>
        <p:spPr>
          <a:xfrm>
            <a:off x="362886" y="3061614"/>
            <a:ext cx="5895975" cy="2800767"/>
          </a:xfrm>
          <a:prstGeom prst="rect">
            <a:avLst/>
          </a:prstGeom>
          <a:noFill/>
        </p:spPr>
        <p:txBody>
          <a:bodyPr wrap="square" rtlCol="0">
            <a:spAutoFit/>
          </a:bodyPr>
          <a:lstStyle/>
          <a:p>
            <a:pPr algn="just"/>
            <a:r>
              <a:rPr lang="en-US" sz="1350" b="1" dirty="0"/>
              <a:t>	</a:t>
            </a:r>
            <a:r>
              <a:rPr lang="en-US" sz="1350" b="1" dirty="0" err="1"/>
              <a:t>InTown</a:t>
            </a:r>
            <a:r>
              <a:rPr lang="en-US" sz="1350" dirty="0"/>
              <a:t> is a mobile app that helps people new in town </a:t>
            </a:r>
            <a:r>
              <a:rPr lang="en-US" sz="1350" dirty="0">
                <a:solidFill>
                  <a:schemeClr val="tx1"/>
                </a:solidFill>
              </a:rPr>
              <a:t>overcome social isolation by connecting them with local and online events designed to foster real human connections. </a:t>
            </a:r>
            <a:r>
              <a:rPr lang="en-US" sz="1350" dirty="0"/>
              <a:t>The platform connects users with event organizers such as cafés, bars, hotels, leisure centers and </a:t>
            </a:r>
            <a:r>
              <a:rPr lang="en-US" sz="1350" dirty="0">
                <a:solidFill>
                  <a:schemeClr val="tx1"/>
                </a:solidFill>
              </a:rPr>
              <a:t>agencies that host curated experiences like game nights, reading clubs, sports activities, group outings, and social meetups. This allows local businesses that struggle to attract new customers reach targeted audiences and build long-term engagement with new clients</a:t>
            </a:r>
            <a:r>
              <a:rPr lang="en-US" sz="1350" dirty="0">
                <a:solidFill>
                  <a:srgbClr val="FF0000"/>
                </a:solidFill>
              </a:rPr>
              <a:t>.</a:t>
            </a:r>
          </a:p>
          <a:p>
            <a:pPr algn="just"/>
            <a:r>
              <a:rPr lang="en-US" sz="1350" dirty="0"/>
              <a:t>	Therefore , the application solves both problems by creating a platform where newcomers can easily discover social opportunities, while businesses can host meaningful events that generate attendance, customer spending, and long-term engagement.</a:t>
            </a:r>
          </a:p>
          <a:p>
            <a:endParaRPr lang="en-US" sz="1400" dirty="0"/>
          </a:p>
        </p:txBody>
      </p:sp>
      <p:grpSp>
        <p:nvGrpSpPr>
          <p:cNvPr id="36" name="object 22">
            <a:extLst>
              <a:ext uri="{FF2B5EF4-FFF2-40B4-BE49-F238E27FC236}">
                <a16:creationId xmlns:a16="http://schemas.microsoft.com/office/drawing/2014/main" id="{7841ECF3-05B1-D332-A2C7-7A536F523AB8}"/>
              </a:ext>
            </a:extLst>
          </p:cNvPr>
          <p:cNvGrpSpPr/>
          <p:nvPr/>
        </p:nvGrpSpPr>
        <p:grpSpPr>
          <a:xfrm>
            <a:off x="3774248" y="3041258"/>
            <a:ext cx="8430895" cy="3041650"/>
            <a:chOff x="3773949" y="3050150"/>
            <a:chExt cx="8430895" cy="3041650"/>
          </a:xfrm>
        </p:grpSpPr>
        <p:sp>
          <p:nvSpPr>
            <p:cNvPr id="37" name="object 23">
              <a:extLst>
                <a:ext uri="{FF2B5EF4-FFF2-40B4-BE49-F238E27FC236}">
                  <a16:creationId xmlns:a16="http://schemas.microsoft.com/office/drawing/2014/main" id="{4E1E1DD1-AC6E-3342-2CB1-24F268E8201B}"/>
                </a:ext>
              </a:extLst>
            </p:cNvPr>
            <p:cNvSpPr/>
            <p:nvPr/>
          </p:nvSpPr>
          <p:spPr>
            <a:xfrm>
              <a:off x="3786649" y="5697975"/>
              <a:ext cx="412115" cy="381000"/>
            </a:xfrm>
            <a:custGeom>
              <a:avLst/>
              <a:gdLst/>
              <a:ahLst/>
              <a:cxnLst/>
              <a:rect l="l" t="t" r="r" b="b"/>
              <a:pathLst>
                <a:path w="412114" h="381000">
                  <a:moveTo>
                    <a:pt x="411899" y="380999"/>
                  </a:moveTo>
                  <a:lnTo>
                    <a:pt x="0" y="380999"/>
                  </a:lnTo>
                  <a:lnTo>
                    <a:pt x="0" y="0"/>
                  </a:lnTo>
                  <a:lnTo>
                    <a:pt x="411899" y="0"/>
                  </a:lnTo>
                  <a:lnTo>
                    <a:pt x="411899" y="380999"/>
                  </a:lnTo>
                  <a:close/>
                </a:path>
              </a:pathLst>
            </a:custGeom>
            <a:solidFill>
              <a:srgbClr val="FFC000"/>
            </a:solidFill>
          </p:spPr>
          <p:txBody>
            <a:bodyPr wrap="square" lIns="0" tIns="0" rIns="0" bIns="0" rtlCol="0"/>
            <a:lstStyle/>
            <a:p>
              <a:endParaRPr/>
            </a:p>
          </p:txBody>
        </p:sp>
        <p:sp>
          <p:nvSpPr>
            <p:cNvPr id="38" name="object 24">
              <a:extLst>
                <a:ext uri="{FF2B5EF4-FFF2-40B4-BE49-F238E27FC236}">
                  <a16:creationId xmlns:a16="http://schemas.microsoft.com/office/drawing/2014/main" id="{45408B12-770C-6082-0716-444308A81280}"/>
                </a:ext>
              </a:extLst>
            </p:cNvPr>
            <p:cNvSpPr/>
            <p:nvPr/>
          </p:nvSpPr>
          <p:spPr>
            <a:xfrm>
              <a:off x="3786649" y="5697975"/>
              <a:ext cx="412115" cy="381000"/>
            </a:xfrm>
            <a:custGeom>
              <a:avLst/>
              <a:gdLst/>
              <a:ahLst/>
              <a:cxnLst/>
              <a:rect l="l" t="t" r="r" b="b"/>
              <a:pathLst>
                <a:path w="412114" h="381000">
                  <a:moveTo>
                    <a:pt x="0" y="0"/>
                  </a:moveTo>
                  <a:lnTo>
                    <a:pt x="411899" y="0"/>
                  </a:lnTo>
                  <a:lnTo>
                    <a:pt x="411899" y="380999"/>
                  </a:lnTo>
                  <a:lnTo>
                    <a:pt x="0" y="380999"/>
                  </a:lnTo>
                  <a:lnTo>
                    <a:pt x="0" y="0"/>
                  </a:lnTo>
                  <a:close/>
                </a:path>
              </a:pathLst>
            </a:custGeom>
            <a:ln w="25399">
              <a:solidFill>
                <a:srgbClr val="00B050"/>
              </a:solidFill>
            </a:ln>
          </p:spPr>
          <p:txBody>
            <a:bodyPr wrap="square" lIns="0" tIns="0" rIns="0" bIns="0" rtlCol="0"/>
            <a:lstStyle/>
            <a:p>
              <a:endParaRPr/>
            </a:p>
          </p:txBody>
        </p:sp>
        <p:sp>
          <p:nvSpPr>
            <p:cNvPr id="39" name="object 25">
              <a:extLst>
                <a:ext uri="{FF2B5EF4-FFF2-40B4-BE49-F238E27FC236}">
                  <a16:creationId xmlns:a16="http://schemas.microsoft.com/office/drawing/2014/main" id="{CC838250-B457-E182-A42A-FB21A428CECB}"/>
                </a:ext>
              </a:extLst>
            </p:cNvPr>
            <p:cNvSpPr/>
            <p:nvPr/>
          </p:nvSpPr>
          <p:spPr>
            <a:xfrm>
              <a:off x="7696200" y="5697975"/>
              <a:ext cx="412115" cy="381000"/>
            </a:xfrm>
            <a:custGeom>
              <a:avLst/>
              <a:gdLst/>
              <a:ahLst/>
              <a:cxnLst/>
              <a:rect l="l" t="t" r="r" b="b"/>
              <a:pathLst>
                <a:path w="412115" h="381000">
                  <a:moveTo>
                    <a:pt x="411899" y="380999"/>
                  </a:moveTo>
                  <a:lnTo>
                    <a:pt x="0" y="380999"/>
                  </a:lnTo>
                  <a:lnTo>
                    <a:pt x="0" y="0"/>
                  </a:lnTo>
                  <a:lnTo>
                    <a:pt x="411899" y="0"/>
                  </a:lnTo>
                  <a:lnTo>
                    <a:pt x="411899" y="380999"/>
                  </a:lnTo>
                  <a:close/>
                </a:path>
              </a:pathLst>
            </a:custGeom>
            <a:solidFill>
              <a:srgbClr val="F69646"/>
            </a:solidFill>
          </p:spPr>
          <p:txBody>
            <a:bodyPr wrap="square" lIns="0" tIns="0" rIns="0" bIns="0" rtlCol="0"/>
            <a:lstStyle/>
            <a:p>
              <a:endParaRPr/>
            </a:p>
          </p:txBody>
        </p:sp>
        <p:sp>
          <p:nvSpPr>
            <p:cNvPr id="40" name="object 26">
              <a:extLst>
                <a:ext uri="{FF2B5EF4-FFF2-40B4-BE49-F238E27FC236}">
                  <a16:creationId xmlns:a16="http://schemas.microsoft.com/office/drawing/2014/main" id="{825E9B42-2EC4-D4BE-1BA8-5E9D3CE6747B}"/>
                </a:ext>
              </a:extLst>
            </p:cNvPr>
            <p:cNvSpPr/>
            <p:nvPr/>
          </p:nvSpPr>
          <p:spPr>
            <a:xfrm>
              <a:off x="7696200" y="5697975"/>
              <a:ext cx="412115" cy="381000"/>
            </a:xfrm>
            <a:custGeom>
              <a:avLst/>
              <a:gdLst/>
              <a:ahLst/>
              <a:cxnLst/>
              <a:rect l="l" t="t" r="r" b="b"/>
              <a:pathLst>
                <a:path w="412115" h="381000">
                  <a:moveTo>
                    <a:pt x="0" y="0"/>
                  </a:moveTo>
                  <a:lnTo>
                    <a:pt x="411899" y="0"/>
                  </a:lnTo>
                  <a:lnTo>
                    <a:pt x="411899" y="380999"/>
                  </a:lnTo>
                  <a:lnTo>
                    <a:pt x="0" y="380999"/>
                  </a:lnTo>
                  <a:lnTo>
                    <a:pt x="0" y="0"/>
                  </a:lnTo>
                  <a:close/>
                </a:path>
              </a:pathLst>
            </a:custGeom>
            <a:ln w="25399">
              <a:solidFill>
                <a:srgbClr val="00B050"/>
              </a:solidFill>
            </a:ln>
          </p:spPr>
          <p:txBody>
            <a:bodyPr wrap="square" lIns="0" tIns="0" rIns="0" bIns="0" rtlCol="0"/>
            <a:lstStyle/>
            <a:p>
              <a:endParaRPr/>
            </a:p>
          </p:txBody>
        </p:sp>
        <p:sp>
          <p:nvSpPr>
            <p:cNvPr id="41" name="object 27">
              <a:extLst>
                <a:ext uri="{FF2B5EF4-FFF2-40B4-BE49-F238E27FC236}">
                  <a16:creationId xmlns:a16="http://schemas.microsoft.com/office/drawing/2014/main" id="{11185214-E684-E396-E066-CA60CAAF1651}"/>
                </a:ext>
              </a:extLst>
            </p:cNvPr>
            <p:cNvSpPr/>
            <p:nvPr/>
          </p:nvSpPr>
          <p:spPr>
            <a:xfrm>
              <a:off x="11605750" y="5697975"/>
              <a:ext cx="412115" cy="381000"/>
            </a:xfrm>
            <a:custGeom>
              <a:avLst/>
              <a:gdLst/>
              <a:ahLst/>
              <a:cxnLst/>
              <a:rect l="l" t="t" r="r" b="b"/>
              <a:pathLst>
                <a:path w="412115" h="381000">
                  <a:moveTo>
                    <a:pt x="411899" y="380999"/>
                  </a:moveTo>
                  <a:lnTo>
                    <a:pt x="0" y="380999"/>
                  </a:lnTo>
                  <a:lnTo>
                    <a:pt x="0" y="0"/>
                  </a:lnTo>
                  <a:lnTo>
                    <a:pt x="411899" y="0"/>
                  </a:lnTo>
                  <a:lnTo>
                    <a:pt x="411899" y="380999"/>
                  </a:lnTo>
                  <a:close/>
                </a:path>
              </a:pathLst>
            </a:custGeom>
            <a:solidFill>
              <a:srgbClr val="FF7B80"/>
            </a:solidFill>
          </p:spPr>
          <p:txBody>
            <a:bodyPr wrap="square" lIns="0" tIns="0" rIns="0" bIns="0" rtlCol="0"/>
            <a:lstStyle/>
            <a:p>
              <a:endParaRPr/>
            </a:p>
          </p:txBody>
        </p:sp>
        <p:sp>
          <p:nvSpPr>
            <p:cNvPr id="42" name="object 28">
              <a:extLst>
                <a:ext uri="{FF2B5EF4-FFF2-40B4-BE49-F238E27FC236}">
                  <a16:creationId xmlns:a16="http://schemas.microsoft.com/office/drawing/2014/main" id="{D80725F9-F423-7F8A-BECE-0FC4A3AC2278}"/>
                </a:ext>
              </a:extLst>
            </p:cNvPr>
            <p:cNvSpPr/>
            <p:nvPr/>
          </p:nvSpPr>
          <p:spPr>
            <a:xfrm>
              <a:off x="11605750" y="5697975"/>
              <a:ext cx="412115" cy="381000"/>
            </a:xfrm>
            <a:custGeom>
              <a:avLst/>
              <a:gdLst/>
              <a:ahLst/>
              <a:cxnLst/>
              <a:rect l="l" t="t" r="r" b="b"/>
              <a:pathLst>
                <a:path w="412115" h="381000">
                  <a:moveTo>
                    <a:pt x="0" y="0"/>
                  </a:moveTo>
                  <a:lnTo>
                    <a:pt x="411899" y="0"/>
                  </a:lnTo>
                  <a:lnTo>
                    <a:pt x="411899" y="380999"/>
                  </a:lnTo>
                  <a:lnTo>
                    <a:pt x="0" y="380999"/>
                  </a:lnTo>
                  <a:lnTo>
                    <a:pt x="0" y="0"/>
                  </a:lnTo>
                  <a:close/>
                </a:path>
              </a:pathLst>
            </a:custGeom>
            <a:ln w="25399">
              <a:solidFill>
                <a:srgbClr val="00B050"/>
              </a:solidFill>
            </a:ln>
          </p:spPr>
          <p:txBody>
            <a:bodyPr wrap="square" lIns="0" tIns="0" rIns="0" bIns="0" rtlCol="0"/>
            <a:lstStyle/>
            <a:p>
              <a:endParaRPr/>
            </a:p>
          </p:txBody>
        </p:sp>
        <p:sp>
          <p:nvSpPr>
            <p:cNvPr id="43" name="object 29">
              <a:extLst>
                <a:ext uri="{FF2B5EF4-FFF2-40B4-BE49-F238E27FC236}">
                  <a16:creationId xmlns:a16="http://schemas.microsoft.com/office/drawing/2014/main" id="{C185C3B0-90B5-C6C7-959D-4714D66B889D}"/>
                </a:ext>
              </a:extLst>
            </p:cNvPr>
            <p:cNvSpPr/>
            <p:nvPr/>
          </p:nvSpPr>
          <p:spPr>
            <a:xfrm>
              <a:off x="6299162" y="3062850"/>
              <a:ext cx="5893435" cy="2551430"/>
            </a:xfrm>
            <a:custGeom>
              <a:avLst/>
              <a:gdLst/>
              <a:ahLst/>
              <a:cxnLst/>
              <a:rect l="l" t="t" r="r" b="b"/>
              <a:pathLst>
                <a:path w="5893434" h="2551429">
                  <a:moveTo>
                    <a:pt x="0" y="0"/>
                  </a:moveTo>
                  <a:lnTo>
                    <a:pt x="5892899" y="0"/>
                  </a:lnTo>
                  <a:lnTo>
                    <a:pt x="5892899" y="2550899"/>
                  </a:lnTo>
                  <a:lnTo>
                    <a:pt x="0" y="2550899"/>
                  </a:lnTo>
                  <a:lnTo>
                    <a:pt x="0" y="0"/>
                  </a:lnTo>
                  <a:close/>
                </a:path>
              </a:pathLst>
            </a:custGeom>
            <a:ln w="25399">
              <a:solidFill>
                <a:srgbClr val="7F7F7F"/>
              </a:solidFill>
            </a:ln>
          </p:spPr>
          <p:txBody>
            <a:bodyPr wrap="square" lIns="0" tIns="0" rIns="0" bIns="0" rtlCol="0"/>
            <a:lstStyle/>
            <a:p>
              <a:endParaRPr/>
            </a:p>
          </p:txBody>
        </p:sp>
      </p:grpSp>
      <p:sp>
        <p:nvSpPr>
          <p:cNvPr id="44" name="object 14">
            <a:extLst>
              <a:ext uri="{FF2B5EF4-FFF2-40B4-BE49-F238E27FC236}">
                <a16:creationId xmlns:a16="http://schemas.microsoft.com/office/drawing/2014/main" id="{E3BEFC50-CA49-4B5E-0574-1F622B5E3DEB}"/>
              </a:ext>
            </a:extLst>
          </p:cNvPr>
          <p:cNvSpPr txBox="1"/>
          <p:nvPr/>
        </p:nvSpPr>
        <p:spPr>
          <a:xfrm>
            <a:off x="401621" y="419743"/>
            <a:ext cx="5857240" cy="789960"/>
          </a:xfrm>
          <a:prstGeom prst="rect">
            <a:avLst/>
          </a:prstGeom>
          <a:ln w="25399">
            <a:solidFill>
              <a:srgbClr val="7F7F7F"/>
            </a:solidFill>
          </a:ln>
        </p:spPr>
        <p:txBody>
          <a:bodyPr vert="horz" wrap="square" lIns="0" tIns="25400" rIns="0" bIns="0" rtlCol="0">
            <a:spAutoFit/>
          </a:bodyPr>
          <a:lstStyle/>
          <a:p>
            <a:pPr marL="85090">
              <a:lnSpc>
                <a:spcPct val="100000"/>
              </a:lnSpc>
              <a:spcBef>
                <a:spcPts val="200"/>
              </a:spcBef>
            </a:pPr>
            <a:r>
              <a:rPr lang="en-US" sz="2400" dirty="0">
                <a:latin typeface="Calibri"/>
                <a:cs typeface="Calibri"/>
              </a:rPr>
              <a:t>PROJECT NAME : </a:t>
            </a:r>
            <a:r>
              <a:rPr lang="en-US" sz="2400" dirty="0" err="1">
                <a:latin typeface="Calibri"/>
                <a:cs typeface="Calibri"/>
              </a:rPr>
              <a:t>InTown</a:t>
            </a:r>
            <a:endParaRPr lang="en-US" sz="2400" dirty="0">
              <a:latin typeface="Calibri"/>
              <a:cs typeface="Calibri"/>
            </a:endParaRPr>
          </a:p>
          <a:p>
            <a:pPr marL="85090">
              <a:lnSpc>
                <a:spcPct val="100000"/>
              </a:lnSpc>
              <a:spcBef>
                <a:spcPts val="200"/>
              </a:spcBef>
            </a:pPr>
            <a:r>
              <a:rPr lang="en-US" sz="2400" dirty="0">
                <a:latin typeface="Calibri"/>
                <a:cs typeface="Calibri"/>
              </a:rPr>
              <a:t>TEAM MEMBERS : </a:t>
            </a:r>
            <a:r>
              <a:rPr lang="ro-RO" sz="2400" dirty="0">
                <a:latin typeface="Calibri"/>
                <a:cs typeface="Calibri"/>
              </a:rPr>
              <a:t>Roșu Laurențiu</a:t>
            </a:r>
            <a:endParaRPr sz="2400" dirty="0">
              <a:latin typeface="Calibri"/>
              <a:cs typeface="Calibri"/>
            </a:endParaRPr>
          </a:p>
        </p:txBody>
      </p:sp>
      <p:sp>
        <p:nvSpPr>
          <p:cNvPr id="47" name="TextBox 46">
            <a:extLst>
              <a:ext uri="{FF2B5EF4-FFF2-40B4-BE49-F238E27FC236}">
                <a16:creationId xmlns:a16="http://schemas.microsoft.com/office/drawing/2014/main" id="{1604A6BB-E063-BBCF-781E-489F6B6BACEA}"/>
              </a:ext>
            </a:extLst>
          </p:cNvPr>
          <p:cNvSpPr txBox="1"/>
          <p:nvPr/>
        </p:nvSpPr>
        <p:spPr>
          <a:xfrm>
            <a:off x="6266699" y="3083620"/>
            <a:ext cx="5925820" cy="2654573"/>
          </a:xfrm>
          <a:prstGeom prst="rect">
            <a:avLst/>
          </a:prstGeom>
          <a:noFill/>
        </p:spPr>
        <p:txBody>
          <a:bodyPr wrap="square" rtlCol="0">
            <a:spAutoFit/>
          </a:bodyPr>
          <a:lstStyle/>
          <a:p>
            <a:pPr algn="just"/>
            <a:r>
              <a:rPr lang="en-US" sz="1350" dirty="0"/>
              <a:t>            The mobile app is designed for people who have recently moved to a new city and are looking to meet new people and build social connections. The target group consists  of students,  young workers and </a:t>
            </a:r>
            <a:r>
              <a:rPr lang="en-US" sz="1350" dirty="0">
                <a:solidFill>
                  <a:schemeClr val="tx1"/>
                </a:solidFill>
              </a:rPr>
              <a:t>expats who are new to a city and seeking social and community integration.</a:t>
            </a:r>
          </a:p>
          <a:p>
            <a:pPr algn="just"/>
            <a:r>
              <a:rPr lang="en-US" sz="1350" dirty="0"/>
              <a:t>            The SDGs supported by the mobile app include </a:t>
            </a:r>
            <a:r>
              <a:rPr lang="en-US" sz="1350" b="1" dirty="0"/>
              <a:t>SDG 3: Good Health and Well-being </a:t>
            </a:r>
            <a:r>
              <a:rPr lang="en-US" sz="1350" dirty="0"/>
              <a:t>by helping reduce loneliness and improving mental well-being through social interaction, </a:t>
            </a:r>
            <a:r>
              <a:rPr lang="en-US" sz="1350" b="1" dirty="0"/>
              <a:t>SDG 10: Reduced Inequalities</a:t>
            </a:r>
            <a:r>
              <a:rPr lang="en-US" sz="1350" dirty="0"/>
              <a:t> by creating opportunities for newcomers to feel included in their local communities and </a:t>
            </a:r>
            <a:r>
              <a:rPr lang="en-US" sz="1350" b="1" dirty="0"/>
              <a:t>SDG 11: Sustainable Cities and Communities</a:t>
            </a:r>
            <a:r>
              <a:rPr lang="en-US" sz="1350" dirty="0"/>
              <a:t> by encouraging stronger community engagement and more connected urban environments.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242</TotalTime>
  <Words>636</Words>
  <Application>Microsoft Office PowerPoint</Application>
  <PresentationFormat>A3 Paper (297x420 mm)</PresentationFormat>
  <Paragraphs>30</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Arial MT</vt:lpstr>
      <vt:lpstr>Calibri</vt:lpstr>
      <vt:lpstr>Cambria</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V.I.S.Canvas.pptx</dc:title>
  <cp:lastModifiedBy>TheSun King</cp:lastModifiedBy>
  <cp:revision>8</cp:revision>
  <dcterms:created xsi:type="dcterms:W3CDTF">2025-02-07T13:41:18Z</dcterms:created>
  <dcterms:modified xsi:type="dcterms:W3CDTF">2026-04-30T11:20:56Z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2025-02-07T00:00:00Z</vt:filetime>
  </property>
  <property fmtid="{D5CDD505-2E9C-101B-9397-08002B2CF9AE}" pid="3" name="Creator">
    <vt:lpwstr>Google</vt:lpwstr>
  </property>
  <property fmtid="{D5CDD505-2E9C-101B-9397-08002B2CF9AE}" pid="4" name="LastSaved">
    <vt:filetime>2025-02-07T00:00:00Z</vt:filetime>
  </property>
</Properties>
</file>